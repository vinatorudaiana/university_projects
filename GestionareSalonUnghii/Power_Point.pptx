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86" r:id="rId4"/>
    <p:sldId id="287" r:id="rId5"/>
    <p:sldId id="258" r:id="rId6"/>
    <p:sldId id="259" r:id="rId7"/>
    <p:sldId id="28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85" r:id="rId17"/>
    <p:sldId id="272" r:id="rId18"/>
    <p:sldId id="273" r:id="rId19"/>
    <p:sldId id="274" r:id="rId20"/>
    <p:sldId id="275" r:id="rId21"/>
    <p:sldId id="276" r:id="rId22"/>
    <p:sldId id="280" r:id="rId23"/>
    <p:sldId id="288" r:id="rId24"/>
    <p:sldId id="289" r:id="rId25"/>
    <p:sldId id="277" r:id="rId26"/>
    <p:sldId id="290" r:id="rId27"/>
    <p:sldId id="291" r:id="rId28"/>
    <p:sldId id="292" r:id="rId29"/>
    <p:sldId id="283" r:id="rId30"/>
    <p:sldId id="281" r:id="rId31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1" d="100"/>
          <a:sy n="61" d="100"/>
        </p:scale>
        <p:origin x="-2074" y="-5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o-RO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52F5C29-7FBF-48A8-AB46-4E6AAC3252CA}" type="datetimeFigureOut">
              <a:rPr lang="ro-RO" smtClean="0"/>
              <a:t>31.01.2025</a:t>
            </a:fld>
            <a:endParaRPr lang="ro-RO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20429AC-5F59-4F90-8FE1-2B714A98FB01}" type="slidenum">
              <a:rPr lang="ro-RO" smtClean="0"/>
              <a:t>‹#›</a:t>
            </a:fld>
            <a:endParaRPr lang="ro-RO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2060848"/>
            <a:ext cx="8458200" cy="1222375"/>
          </a:xfrm>
        </p:spPr>
        <p:txBody>
          <a:bodyPr/>
          <a:lstStyle/>
          <a:p>
            <a:r>
              <a:rPr lang="en-US" dirty="0" smtClean="0"/>
              <a:t>Nail Salon Sync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4437112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 err="1" smtClean="0"/>
              <a:t>Nume</a:t>
            </a:r>
            <a:r>
              <a:rPr lang="en-US" dirty="0" smtClean="0"/>
              <a:t> </a:t>
            </a:r>
            <a:r>
              <a:rPr lang="en-US" dirty="0" err="1" smtClean="0"/>
              <a:t>Student:Vinatoru</a:t>
            </a:r>
            <a:r>
              <a:rPr lang="en-US" dirty="0" smtClean="0"/>
              <a:t> </a:t>
            </a:r>
            <a:r>
              <a:rPr lang="en-US" dirty="0" err="1" smtClean="0"/>
              <a:t>Daiana</a:t>
            </a:r>
            <a:endParaRPr lang="en-US" dirty="0" smtClean="0"/>
          </a:p>
          <a:p>
            <a:r>
              <a:rPr lang="en-US" dirty="0" smtClean="0"/>
              <a:t>Grupa:30235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7289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</a:t>
            </a:r>
            <a:r>
              <a:rPr lang="ro-RO" dirty="0" smtClean="0"/>
              <a:t>Prezentare generala</a:t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0768"/>
            <a:ext cx="868680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2400" dirty="0" smtClean="0"/>
          </a:p>
          <a:p>
            <a:pPr marL="0" indent="0">
              <a:buNone/>
            </a:pPr>
            <a:r>
              <a:rPr lang="en-US" sz="2400" dirty="0" smtClean="0"/>
              <a:t>„</a:t>
            </a:r>
            <a:r>
              <a:rPr lang="en-US" sz="2400" dirty="0"/>
              <a:t>Nail Salon Sync” </a:t>
            </a:r>
            <a:r>
              <a:rPr lang="en-US" sz="2400" dirty="0" err="1"/>
              <a:t>este</a:t>
            </a:r>
            <a:r>
              <a:rPr lang="en-US" sz="2400" dirty="0"/>
              <a:t> o </a:t>
            </a:r>
            <a:r>
              <a:rPr lang="en-US" sz="2400" dirty="0" err="1"/>
              <a:t>aplicație</a:t>
            </a:r>
            <a:r>
              <a:rPr lang="en-US" sz="2400" dirty="0"/>
              <a:t> software </a:t>
            </a:r>
            <a:r>
              <a:rPr lang="en-US" sz="2400" dirty="0" err="1"/>
              <a:t>dedicată</a:t>
            </a:r>
            <a:r>
              <a:rPr lang="en-US" sz="2400" dirty="0"/>
              <a:t> </a:t>
            </a:r>
            <a:r>
              <a:rPr lang="en-US" sz="2400" dirty="0" err="1"/>
              <a:t>programărilor</a:t>
            </a:r>
            <a:r>
              <a:rPr lang="en-US" sz="2400" dirty="0"/>
              <a:t> la </a:t>
            </a:r>
            <a:r>
              <a:rPr lang="en-US" sz="2400" dirty="0" err="1"/>
              <a:t>saloanele</a:t>
            </a:r>
            <a:r>
              <a:rPr lang="en-US" sz="2400" dirty="0"/>
              <a:t> de </a:t>
            </a:r>
            <a:r>
              <a:rPr lang="en-US" sz="2400" dirty="0" err="1"/>
              <a:t>manichiură</a:t>
            </a:r>
            <a:r>
              <a:rPr lang="en-US" sz="2400" dirty="0"/>
              <a:t>, </a:t>
            </a:r>
            <a:r>
              <a:rPr lang="en-US" sz="2400" dirty="0" err="1"/>
              <a:t>adresându</a:t>
            </a:r>
            <a:r>
              <a:rPr lang="en-US" sz="2400" dirty="0"/>
              <a:t>-se </a:t>
            </a:r>
            <a:r>
              <a:rPr lang="en-US" sz="2400" dirty="0" err="1"/>
              <a:t>atât</a:t>
            </a:r>
            <a:r>
              <a:rPr lang="en-US" sz="2400" dirty="0"/>
              <a:t> </a:t>
            </a:r>
            <a:r>
              <a:rPr lang="en-US" sz="2400" dirty="0" err="1"/>
              <a:t>utilizatorilor</a:t>
            </a:r>
            <a:r>
              <a:rPr lang="en-US" sz="2400" dirty="0"/>
              <a:t> care </a:t>
            </a:r>
            <a:r>
              <a:rPr lang="en-US" sz="2400" dirty="0" err="1"/>
              <a:t>doresc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rezerve</a:t>
            </a:r>
            <a:r>
              <a:rPr lang="en-US" sz="2400" dirty="0"/>
              <a:t> </a:t>
            </a:r>
            <a:r>
              <a:rPr lang="en-US" sz="2400" dirty="0" err="1"/>
              <a:t>servicii</a:t>
            </a:r>
            <a:r>
              <a:rPr lang="en-US" sz="2400" dirty="0"/>
              <a:t>, </a:t>
            </a:r>
            <a:r>
              <a:rPr lang="en-US" sz="2400" dirty="0" err="1"/>
              <a:t>cât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administratorilor</a:t>
            </a:r>
            <a:r>
              <a:rPr lang="en-US" sz="2400" dirty="0"/>
              <a:t> care </a:t>
            </a:r>
            <a:r>
              <a:rPr lang="en-US" sz="2400" dirty="0" err="1"/>
              <a:t>gestionează</a:t>
            </a:r>
            <a:r>
              <a:rPr lang="en-US" sz="2400" dirty="0"/>
              <a:t> </a:t>
            </a:r>
            <a:r>
              <a:rPr lang="en-US" sz="2400" dirty="0" err="1"/>
              <a:t>rezervările</a:t>
            </a:r>
            <a:r>
              <a:rPr lang="en-US" sz="2400" dirty="0"/>
              <a:t>. </a:t>
            </a:r>
            <a:endParaRPr lang="ro-RO" sz="2400" dirty="0" smtClean="0"/>
          </a:p>
          <a:p>
            <a:pPr marL="0" indent="0">
              <a:buNone/>
            </a:pPr>
            <a:r>
              <a:rPr lang="en-US" sz="2400" dirty="0" err="1" smtClean="0"/>
              <a:t>Funcționalitățile</a:t>
            </a:r>
            <a:r>
              <a:rPr lang="en-US" sz="2400" dirty="0" smtClean="0"/>
              <a:t> </a:t>
            </a:r>
            <a:r>
              <a:rPr lang="en-US" sz="2400" dirty="0" err="1"/>
              <a:t>principale</a:t>
            </a:r>
            <a:r>
              <a:rPr lang="en-US" sz="2400" dirty="0"/>
              <a:t> </a:t>
            </a:r>
            <a:r>
              <a:rPr lang="en-US" sz="2400" dirty="0" err="1"/>
              <a:t>includ</a:t>
            </a:r>
            <a:r>
              <a:rPr lang="en-US" sz="2400" dirty="0"/>
              <a:t> </a:t>
            </a:r>
            <a:r>
              <a:rPr lang="en-US" sz="2400" dirty="0" err="1"/>
              <a:t>autentificarea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roluri</a:t>
            </a:r>
            <a:r>
              <a:rPr lang="en-US" sz="2400" dirty="0"/>
              <a:t> (User </a:t>
            </a:r>
            <a:r>
              <a:rPr lang="en-US" sz="2400" dirty="0" err="1"/>
              <a:t>și</a:t>
            </a:r>
            <a:r>
              <a:rPr lang="en-US" sz="2400" dirty="0"/>
              <a:t> Admin), </a:t>
            </a:r>
            <a:r>
              <a:rPr lang="en-US" sz="2400" dirty="0" err="1"/>
              <a:t>gestionarea</a:t>
            </a:r>
            <a:r>
              <a:rPr lang="en-US" sz="2400" dirty="0"/>
              <a:t> </a:t>
            </a:r>
            <a:r>
              <a:rPr lang="en-US" sz="2400" dirty="0" err="1"/>
              <a:t>rezervărilor</a:t>
            </a:r>
            <a:r>
              <a:rPr lang="en-US" sz="2400" dirty="0"/>
              <a:t>, </a:t>
            </a:r>
            <a:r>
              <a:rPr lang="en-US" sz="2400" dirty="0" err="1"/>
              <a:t>afișarea</a:t>
            </a:r>
            <a:r>
              <a:rPr lang="en-US" sz="2400" dirty="0"/>
              <a:t> </a:t>
            </a:r>
            <a:r>
              <a:rPr lang="en-US" sz="2400" dirty="0" err="1"/>
              <a:t>disponibilităților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baza</a:t>
            </a:r>
            <a:r>
              <a:rPr lang="en-US" sz="2400" dirty="0"/>
              <a:t> </a:t>
            </a:r>
            <a:r>
              <a:rPr lang="en-US" sz="2400" dirty="0" err="1"/>
              <a:t>localizării</a:t>
            </a:r>
            <a:r>
              <a:rPr lang="en-US" sz="2400" dirty="0"/>
              <a:t> </a:t>
            </a:r>
            <a:r>
              <a:rPr lang="en-US" sz="2400" dirty="0" err="1"/>
              <a:t>utilizatorului</a:t>
            </a:r>
            <a:r>
              <a:rPr lang="en-US" sz="2400" dirty="0"/>
              <a:t>, </a:t>
            </a:r>
            <a:r>
              <a:rPr lang="en-US" sz="2400" dirty="0" err="1"/>
              <a:t>notificări</a:t>
            </a:r>
            <a:r>
              <a:rPr lang="en-US" sz="2400" dirty="0"/>
              <a:t> automate, </a:t>
            </a:r>
            <a:r>
              <a:rPr lang="en-US" sz="2400" dirty="0" err="1"/>
              <a:t>opțiuni</a:t>
            </a:r>
            <a:r>
              <a:rPr lang="en-US" sz="2400" dirty="0"/>
              <a:t> de </a:t>
            </a:r>
            <a:r>
              <a:rPr lang="en-US" sz="2400" dirty="0" err="1"/>
              <a:t>reprogramare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anulare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un </a:t>
            </a:r>
            <a:r>
              <a:rPr lang="en-US" sz="2400" dirty="0" err="1"/>
              <a:t>sistem</a:t>
            </a:r>
            <a:r>
              <a:rPr lang="en-US" sz="2400" dirty="0"/>
              <a:t> de </a:t>
            </a:r>
            <a:r>
              <a:rPr lang="en-US" sz="2400" dirty="0" err="1"/>
              <a:t>recenzii</a:t>
            </a:r>
            <a:r>
              <a:rPr lang="en-US" sz="2400" dirty="0"/>
              <a:t>.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integrarea</a:t>
            </a:r>
            <a:r>
              <a:rPr lang="en-US" sz="2400" dirty="0"/>
              <a:t> </a:t>
            </a:r>
            <a:r>
              <a:rPr lang="en-US" sz="2400" dirty="0" err="1"/>
              <a:t>hărților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a </a:t>
            </a:r>
            <a:r>
              <a:rPr lang="en-US" sz="2400" dirty="0" err="1"/>
              <a:t>notificărilor</a:t>
            </a:r>
            <a:r>
              <a:rPr lang="en-US" sz="2400" dirty="0"/>
              <a:t>, </a:t>
            </a:r>
            <a:r>
              <a:rPr lang="en-US" sz="2400" dirty="0" err="1"/>
              <a:t>aplicația</a:t>
            </a:r>
            <a:r>
              <a:rPr lang="en-US" sz="2400" dirty="0"/>
              <a:t> </a:t>
            </a:r>
            <a:r>
              <a:rPr lang="en-US" sz="2400" dirty="0" err="1"/>
              <a:t>simplifică</a:t>
            </a:r>
            <a:r>
              <a:rPr lang="en-US" sz="2400" dirty="0"/>
              <a:t> </a:t>
            </a:r>
            <a:r>
              <a:rPr lang="en-US" sz="2400" dirty="0" err="1"/>
              <a:t>procesul</a:t>
            </a:r>
            <a:r>
              <a:rPr lang="en-US" sz="2400" dirty="0"/>
              <a:t> de </a:t>
            </a:r>
            <a:r>
              <a:rPr lang="en-US" sz="2400" dirty="0" err="1"/>
              <a:t>organizare</a:t>
            </a:r>
            <a:r>
              <a:rPr lang="en-US" sz="2400" dirty="0"/>
              <a:t> </a:t>
            </a:r>
            <a:r>
              <a:rPr lang="en-US" sz="2400" dirty="0" err="1"/>
              <a:t>atât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clienți</a:t>
            </a:r>
            <a:r>
              <a:rPr lang="en-US" sz="2400" dirty="0"/>
              <a:t>, </a:t>
            </a:r>
            <a:r>
              <a:rPr lang="en-US" sz="2400" dirty="0" err="1"/>
              <a:t>cât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saloane</a:t>
            </a:r>
            <a:r>
              <a:rPr lang="en-US" sz="2400" dirty="0"/>
              <a:t>.</a:t>
            </a:r>
            <a:endParaRPr lang="ro-RO" sz="2400" dirty="0"/>
          </a:p>
          <a:p>
            <a:pPr marL="0" indent="0">
              <a:buNone/>
            </a:pPr>
            <a:endParaRPr lang="en-US" sz="2000" dirty="0" smtClean="0"/>
          </a:p>
          <a:p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410893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812088" cy="57332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o-RO" b="1" dirty="0" smtClean="0"/>
              <a:t>1</a:t>
            </a:r>
            <a:r>
              <a:rPr lang="ro-RO" b="1" dirty="0"/>
              <a:t>. Interfață de autentificare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Roluri</a:t>
            </a:r>
            <a:r>
              <a:rPr lang="ro-RO" dirty="0"/>
              <a:t>: Utilizatorii vor avea roluri diferite (User și Admin), iar la crearea contului, își aleg rolul:</a:t>
            </a:r>
            <a:endParaRPr lang="ro-RO" sz="4000" dirty="0"/>
          </a:p>
          <a:p>
            <a:pPr marL="457200" lvl="1" indent="0">
              <a:buNone/>
            </a:pPr>
            <a:r>
              <a:rPr lang="ro-RO" i="1" dirty="0"/>
              <a:t>User</a:t>
            </a:r>
            <a:r>
              <a:rPr lang="ro-RO" dirty="0"/>
              <a:t>: cei care vor să facă o programare.</a:t>
            </a:r>
            <a:endParaRPr lang="ro-RO" sz="3600" dirty="0"/>
          </a:p>
          <a:p>
            <a:pPr marL="457200" lvl="1" indent="0">
              <a:buNone/>
            </a:pPr>
            <a:r>
              <a:rPr lang="ro-RO" i="1" dirty="0"/>
              <a:t>Admin</a:t>
            </a:r>
            <a:r>
              <a:rPr lang="ro-RO" dirty="0"/>
              <a:t>: fetele care fac unghii și doresc să își gestioneze programările.</a:t>
            </a:r>
            <a:endParaRPr lang="ro-RO" sz="3600" dirty="0"/>
          </a:p>
          <a:p>
            <a:pPr marL="0" lvl="0" indent="0">
              <a:buNone/>
            </a:pPr>
            <a:r>
              <a:rPr lang="ro-RO" b="1" dirty="0"/>
              <a:t>Autentificare/Înregistrare</a:t>
            </a:r>
            <a:r>
              <a:rPr lang="ro-RO" dirty="0"/>
              <a:t>: Prin </a:t>
            </a:r>
            <a:r>
              <a:rPr lang="ro-RO" dirty="0" smtClean="0"/>
              <a:t>e-mail</a:t>
            </a:r>
            <a:endParaRPr lang="en-US" dirty="0" smtClean="0"/>
          </a:p>
          <a:p>
            <a:pPr marL="0" lvl="0" indent="0">
              <a:buNone/>
            </a:pPr>
            <a:r>
              <a:rPr lang="en-US" b="1" dirty="0" smtClean="0"/>
              <a:t>    </a:t>
            </a:r>
            <a:r>
              <a:rPr lang="ro-RO" b="1" dirty="0" smtClean="0"/>
              <a:t>2</a:t>
            </a:r>
            <a:r>
              <a:rPr lang="ro-RO" b="1" dirty="0"/>
              <a:t>. Functionalitate pentru Admin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Setarea programului</a:t>
            </a:r>
            <a:r>
              <a:rPr lang="ro-RO" dirty="0"/>
              <a:t>: Adminii își pot adăuga </a:t>
            </a:r>
            <a:r>
              <a:rPr lang="ro-RO" dirty="0" smtClean="0"/>
              <a:t>orele </a:t>
            </a:r>
            <a:r>
              <a:rPr lang="ro-RO" dirty="0"/>
              <a:t>disponibile și locația salonului, poate chiar și serviciile disponibile (ex: manichiură simplă, unghii cu gel etc.).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Gestionarea rezervărilor</a:t>
            </a:r>
            <a:r>
              <a:rPr lang="ro-RO" dirty="0"/>
              <a:t>: Adminii pot vedea toate programările făcute de utilizatori, le pot confirma sau, dacă au nevoie le pot modifica</a:t>
            </a:r>
            <a:r>
              <a:rPr lang="en-US" dirty="0"/>
              <a:t>;</a:t>
            </a:r>
            <a:endParaRPr lang="ro-RO" sz="4000" dirty="0"/>
          </a:p>
          <a:p>
            <a:pPr marL="0" indent="0">
              <a:buNone/>
            </a:pPr>
            <a:r>
              <a:rPr lang="en-US" b="1" dirty="0" smtClean="0"/>
              <a:t>   </a:t>
            </a:r>
            <a:r>
              <a:rPr lang="ro-RO" b="1" dirty="0" smtClean="0"/>
              <a:t>3</a:t>
            </a:r>
            <a:r>
              <a:rPr lang="ro-RO" b="1" dirty="0"/>
              <a:t>. Functionalitate pentru User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Căutare programare</a:t>
            </a:r>
            <a:r>
              <a:rPr lang="ro-RO" dirty="0"/>
              <a:t>: Userii pot introduce ziua, ora și, eventual, tipul de serviciu dorit </a:t>
            </a:r>
            <a:r>
              <a:rPr lang="en-US" dirty="0"/>
              <a:t>;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Recomandarea saloanelor disponibile</a:t>
            </a:r>
            <a:r>
              <a:rPr lang="ro-RO" dirty="0"/>
              <a:t>: Aplicația afișează o listă de saloane care au disponibilitatea la ora dorită și sunt în apropierea locației utilizatorului.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Hartă integrată</a:t>
            </a:r>
            <a:r>
              <a:rPr lang="ro-RO" dirty="0"/>
              <a:t>: După ce utilizatorul selectează o programare, harta arată locația exactă a salonului;</a:t>
            </a:r>
            <a:endParaRPr lang="ro-RO" sz="4000" dirty="0"/>
          </a:p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ro-RO" b="1" dirty="0" smtClean="0"/>
              <a:t>4</a:t>
            </a:r>
            <a:r>
              <a:rPr lang="ro-RO" b="1" dirty="0"/>
              <a:t>. Funcționalități de hartă și localizare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Geolocație</a:t>
            </a:r>
            <a:r>
              <a:rPr lang="ro-RO" dirty="0"/>
              <a:t>:Voi folosi API de hărți, pentru a calcula distanțele și a afișa locațiile salonelor.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Filtrare după distanță și disponibilitate</a:t>
            </a:r>
            <a:r>
              <a:rPr lang="ro-RO" dirty="0"/>
              <a:t>: După ce utilizatorul introduce ora dorită, aplicația va filtra automat saloanele care sunt disponibile și apropiate.</a:t>
            </a:r>
            <a:endParaRPr lang="ro-RO" sz="4000" dirty="0"/>
          </a:p>
          <a:p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332656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Structură și funcționalitate pentru aplicație</a:t>
            </a:r>
            <a:endParaRPr lang="ro-RO" sz="24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0712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40080" cy="554461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ro-RO" b="1" dirty="0" smtClean="0"/>
              <a:t>5</a:t>
            </a:r>
            <a:r>
              <a:rPr lang="ro-RO" b="1" dirty="0"/>
              <a:t>. Calendar și gestiune a programărilor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Calendar pentru Admin</a:t>
            </a:r>
            <a:r>
              <a:rPr lang="ro-RO" dirty="0"/>
              <a:t>: Adminii pot vedea programările într-un calendar și pot bloca zilele sau orele în care nu sunt disponibili.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Calendar pentru User</a:t>
            </a:r>
            <a:r>
              <a:rPr lang="ro-RO" dirty="0"/>
              <a:t>: Userii pot vedea programările viitoare și au opțiunea de a le modifica sau anula, conform termenilor stabiliti.</a:t>
            </a:r>
            <a:endParaRPr lang="ro-RO" sz="4000" dirty="0"/>
          </a:p>
          <a:p>
            <a:pPr marL="0" indent="0">
              <a:buNone/>
            </a:pPr>
            <a:r>
              <a:rPr lang="en-US" b="1" dirty="0" smtClean="0"/>
              <a:t>     </a:t>
            </a:r>
            <a:r>
              <a:rPr lang="ro-RO" b="1" dirty="0" smtClean="0"/>
              <a:t>6</a:t>
            </a:r>
            <a:r>
              <a:rPr lang="ro-RO" b="1" dirty="0"/>
              <a:t>. Notificări și sistem de confirmare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Notificări push</a:t>
            </a:r>
            <a:r>
              <a:rPr lang="ro-RO" dirty="0"/>
              <a:t>: Când programarea este făcută, atât userul, cât și adminul vor primi notificări de confirmare.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Sistem de confirmare</a:t>
            </a:r>
            <a:r>
              <a:rPr lang="ro-RO" dirty="0"/>
              <a:t>: Adminul poate confirma sau respinge programarea în caz de modificări.</a:t>
            </a:r>
            <a:endParaRPr lang="ro-RO" sz="4000" dirty="0"/>
          </a:p>
          <a:p>
            <a:pPr marL="0" indent="0">
              <a:buNone/>
            </a:pPr>
            <a:r>
              <a:rPr lang="en-US" b="1" dirty="0" smtClean="0"/>
              <a:t>     </a:t>
            </a:r>
            <a:r>
              <a:rPr lang="ro-RO" b="1" dirty="0" smtClean="0"/>
              <a:t>7</a:t>
            </a:r>
            <a:r>
              <a:rPr lang="ro-RO" b="1" dirty="0"/>
              <a:t>.</a:t>
            </a:r>
            <a:r>
              <a:rPr lang="ro-RO" sz="4800" dirty="0"/>
              <a:t> </a:t>
            </a:r>
            <a:r>
              <a:rPr lang="ro-RO" b="1" dirty="0"/>
              <a:t>Sistem de recenzii și evaluări</a:t>
            </a:r>
            <a:endParaRPr lang="ro-RO" sz="4800" b="1" dirty="0"/>
          </a:p>
          <a:p>
            <a:pPr marL="0" lvl="0" indent="0">
              <a:buNone/>
            </a:pPr>
            <a:r>
              <a:rPr lang="ro-RO" b="1" dirty="0"/>
              <a:t>Funcționalitate</a:t>
            </a:r>
            <a:r>
              <a:rPr lang="ro-RO" dirty="0"/>
              <a:t>: După finalizarea programării, utilizatorii pot lăsa o recenzie și un rating pentru experiența avută la salon</a:t>
            </a:r>
            <a:r>
              <a:rPr lang="ro-RO" sz="4400" dirty="0" smtClean="0"/>
              <a:t>.</a:t>
            </a:r>
            <a:endParaRPr lang="ro-RO" sz="2800" dirty="0"/>
          </a:p>
          <a:p>
            <a:pPr marL="0" indent="0">
              <a:buNone/>
            </a:pPr>
            <a:r>
              <a:rPr lang="en-US" b="1" dirty="0" smtClean="0"/>
              <a:t>     </a:t>
            </a:r>
            <a:r>
              <a:rPr lang="ro-RO" b="1" dirty="0" smtClean="0"/>
              <a:t>8.Notificări </a:t>
            </a:r>
            <a:r>
              <a:rPr lang="ro-RO" b="1" dirty="0"/>
              <a:t>și memento-uri pentru programări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Funcționalitate</a:t>
            </a:r>
            <a:r>
              <a:rPr lang="ro-RO" dirty="0"/>
              <a:t>: Sistemul trimite notificări automate înainte de programare (ex: cu 24 de ore și cu 1 oră înainte) pentru a reaminti utilizatorului să se prezinte la salon.</a:t>
            </a:r>
            <a:endParaRPr lang="ro-RO" sz="4000" dirty="0"/>
          </a:p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ro-RO" b="1" dirty="0" smtClean="0"/>
              <a:t>9.Opțiune </a:t>
            </a:r>
            <a:r>
              <a:rPr lang="ro-RO" b="1" dirty="0"/>
              <a:t>de reprogramare și anulare</a:t>
            </a:r>
            <a:endParaRPr lang="ro-RO" sz="4000" dirty="0"/>
          </a:p>
          <a:p>
            <a:pPr marL="0" lvl="0" indent="0">
              <a:buNone/>
            </a:pPr>
            <a:r>
              <a:rPr lang="ro-RO" b="1" dirty="0"/>
              <a:t>Funcționalitate</a:t>
            </a:r>
            <a:r>
              <a:rPr lang="ro-RO" dirty="0"/>
              <a:t>: Utilizatorii și adminii pot reprograma sau anula o rezervare cu confirmarea celeilalte părți.</a:t>
            </a:r>
            <a:endParaRPr lang="ro-RO" sz="40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8829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r>
              <a:rPr lang="ro-RO" dirty="0" smtClean="0"/>
              <a:t>fundamente teoretice 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6912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vi-VN" sz="2000" dirty="0"/>
              <a:t>Dezvoltarea aplicației „Nail Salon Sync” se bazează pe utilizarea unor concepte și algoritmi specifici domeniului software, menționând următoarele fundamente</a:t>
            </a:r>
            <a:r>
              <a:rPr lang="vi-VN" sz="2000" dirty="0" smtClean="0"/>
              <a:t>:</a:t>
            </a:r>
            <a:endParaRPr lang="ro-RO" sz="2000" dirty="0" smtClean="0"/>
          </a:p>
          <a:p>
            <a:pPr marL="0" indent="0">
              <a:buNone/>
            </a:pPr>
            <a:endParaRPr lang="vi-VN" sz="2000" dirty="0"/>
          </a:p>
          <a:p>
            <a:pPr marL="0" indent="0">
              <a:buNone/>
            </a:pPr>
            <a:r>
              <a:rPr lang="ro-RO" sz="2000" b="1" dirty="0" smtClean="0"/>
              <a:t>1.</a:t>
            </a:r>
            <a:r>
              <a:rPr lang="vi-VN" sz="2000" b="1" dirty="0" smtClean="0"/>
              <a:t>Algoritmi </a:t>
            </a:r>
            <a:r>
              <a:rPr lang="vi-VN" sz="2000" b="1" dirty="0"/>
              <a:t>de filtrare și căutare optimizată</a:t>
            </a:r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/>
              <a:t>Pentru a oferi utilizatorilor cele mai relevante opțiuni de saloane, aplicația implementează algoritmi de căutare care sortează saloanele în funcție de distanță, disponibilitate și preferințele utilizatorului.</a:t>
            </a:r>
          </a:p>
          <a:p>
            <a:pPr marL="0" indent="0">
              <a:buNone/>
            </a:pPr>
            <a:r>
              <a:rPr lang="ro-RO" sz="2000" b="1" dirty="0" smtClean="0"/>
              <a:t>2.</a:t>
            </a:r>
            <a:r>
              <a:rPr lang="vi-VN" sz="2000" b="1" dirty="0" smtClean="0"/>
              <a:t>Sisteme </a:t>
            </a:r>
            <a:r>
              <a:rPr lang="vi-VN" sz="2000" b="1" dirty="0"/>
              <a:t>de gestionare a notificărilor</a:t>
            </a:r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/>
              <a:t>Se utilizează mecanisme de notificare push pentru a informa utilizatorii și administratori despre confirmările rezervărilor, modificări sau mementouri automate. Aceste notificări sunt sincronizate cu datele din baza de date pentru a asigura acuratețea informațiilor.</a:t>
            </a:r>
          </a:p>
          <a:p>
            <a:pPr marL="0" indent="0">
              <a:buNone/>
            </a:pPr>
            <a:r>
              <a:rPr lang="ro-RO" sz="2000" b="1" dirty="0" smtClean="0"/>
              <a:t>3.</a:t>
            </a:r>
            <a:r>
              <a:rPr lang="vi-VN" sz="2000" b="1" dirty="0" smtClean="0"/>
              <a:t>Integrarea API-urilor de geolocație</a:t>
            </a:r>
            <a:r>
              <a:rPr lang="vi-VN" sz="2000" dirty="0" smtClean="0"/>
              <a:t/>
            </a:r>
            <a:br>
              <a:rPr lang="vi-VN" sz="2000" dirty="0" smtClean="0"/>
            </a:br>
            <a:r>
              <a:rPr lang="vi-VN" sz="2000" dirty="0" smtClean="0"/>
              <a:t>Aplicația </a:t>
            </a:r>
            <a:r>
              <a:rPr lang="vi-VN" sz="2000" dirty="0"/>
              <a:t>folosește API-uri precum Google Maps pentru calcularea distanțelor dintre utilizatori și saloane, oferind o experiență personalizată bazată pe locația curentă a utilizatorului.</a:t>
            </a:r>
          </a:p>
          <a:p>
            <a:pPr marL="0" indent="0">
              <a:buNone/>
            </a:pPr>
            <a:r>
              <a:rPr lang="ro-RO" sz="2000" b="1" dirty="0" smtClean="0"/>
              <a:t>4.</a:t>
            </a:r>
            <a:r>
              <a:rPr lang="vi-VN" sz="2000" b="1" dirty="0" smtClean="0"/>
              <a:t>Sisteme </a:t>
            </a:r>
            <a:r>
              <a:rPr lang="vi-VN" sz="2000" b="1" dirty="0"/>
              <a:t>de management al bazelor de date relaționale</a:t>
            </a:r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/>
              <a:t>Designul bazei de date asigură stocarea eficientă a informațiilor despre utilizatori, saloane, programări și servicii, respectând principiile normalizării pentru a minimiza redundanța și a maximiza integritatea datelor.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3439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Tehnologie  it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1151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o-RO" dirty="0"/>
              <a:t>Dezvoltarea aplicației  se va realiza utilizând următoarele tehnologii și platforme:</a:t>
            </a:r>
            <a:endParaRPr lang="ro-RO" sz="2000" dirty="0"/>
          </a:p>
          <a:p>
            <a:pPr marL="0" lvl="0" indent="0">
              <a:buNone/>
            </a:pPr>
            <a:r>
              <a:rPr lang="ro-RO" b="1" dirty="0" smtClean="0"/>
              <a:t>     1.Limbaje </a:t>
            </a:r>
            <a:r>
              <a:rPr lang="ro-RO" b="1" dirty="0"/>
              <a:t>de programare:</a:t>
            </a:r>
            <a:endParaRPr lang="ro-RO" sz="2000" dirty="0"/>
          </a:p>
          <a:p>
            <a:pPr marL="457200" lvl="1" indent="0">
              <a:buNone/>
            </a:pPr>
            <a:r>
              <a:rPr lang="ro-RO" b="1" dirty="0" smtClean="0"/>
              <a:t>    </a:t>
            </a:r>
            <a:r>
              <a:rPr lang="ro-RO" dirty="0" smtClean="0"/>
              <a:t>Java</a:t>
            </a:r>
            <a:r>
              <a:rPr lang="ro-RO" dirty="0"/>
              <a:t>: Limbajul principal pentru dezvoltarea aplicației, fiind utilizat atât pentru logica de backend, cât și pentru </a:t>
            </a:r>
            <a:r>
              <a:rPr lang="ro-RO" dirty="0" smtClean="0"/>
              <a:t>      integrarea </a:t>
            </a:r>
            <a:r>
              <a:rPr lang="ro-RO" dirty="0"/>
              <a:t>funcționalităților de front-end în aplicația desktop sau mobilă.</a:t>
            </a:r>
            <a:endParaRPr lang="ro-RO" sz="1800" dirty="0"/>
          </a:p>
          <a:p>
            <a:pPr marL="0" lvl="0" indent="0">
              <a:buNone/>
            </a:pPr>
            <a:r>
              <a:rPr lang="ro-RO" b="1" dirty="0" smtClean="0"/>
              <a:t>      2.Mediu </a:t>
            </a:r>
            <a:r>
              <a:rPr lang="ro-RO" b="1" dirty="0"/>
              <a:t>de dezvoltare:</a:t>
            </a:r>
            <a:endParaRPr lang="ro-RO" sz="2000" dirty="0"/>
          </a:p>
          <a:p>
            <a:pPr marL="457200" lvl="1" indent="0">
              <a:buNone/>
            </a:pPr>
            <a:r>
              <a:rPr lang="ro-RO" dirty="0"/>
              <a:t>IntelliJ IDEA: IDE-ul principal pentru scrierea și gestionarea codului.</a:t>
            </a:r>
            <a:endParaRPr lang="ro-RO" sz="1800" dirty="0"/>
          </a:p>
          <a:p>
            <a:pPr marL="0" indent="0">
              <a:buNone/>
            </a:pPr>
            <a:r>
              <a:rPr lang="ro-RO" dirty="0" smtClean="0"/>
              <a:t>      3. </a:t>
            </a:r>
            <a:r>
              <a:rPr lang="ro-RO" b="1" dirty="0"/>
              <a:t>Platformă hardware și software:</a:t>
            </a:r>
            <a:endParaRPr lang="ro-RO" sz="2000" dirty="0"/>
          </a:p>
          <a:p>
            <a:pPr marL="0" lvl="0" indent="0">
              <a:buNone/>
            </a:pPr>
            <a:r>
              <a:rPr lang="ro-RO" dirty="0" smtClean="0"/>
              <a:t>           Aplicația </a:t>
            </a:r>
            <a:r>
              <a:rPr lang="ro-RO" dirty="0"/>
              <a:t>va fi dezvoltată pentru a fi compatibilă cu platforme mobile (Android) și desktop.</a:t>
            </a:r>
            <a:endParaRPr lang="ro-RO" sz="2000" dirty="0"/>
          </a:p>
          <a:p>
            <a:pPr marL="0" lvl="0" indent="0">
              <a:buNone/>
            </a:pPr>
            <a:r>
              <a:rPr lang="ro-RO" dirty="0" smtClean="0"/>
              <a:t>           Serverele </a:t>
            </a:r>
            <a:r>
              <a:rPr lang="ro-RO" dirty="0"/>
              <a:t>locale sau găzduite pe un cloud privat vor asigura gestionarea datelor și disponibilitatea </a:t>
            </a:r>
            <a:r>
              <a:rPr lang="ro-RO" dirty="0" smtClean="0"/>
              <a:t>     aplicației</a:t>
            </a:r>
            <a:r>
              <a:rPr lang="ro-RO" dirty="0"/>
              <a:t>.</a:t>
            </a:r>
            <a:endParaRPr lang="ro-RO" sz="2000" dirty="0"/>
          </a:p>
          <a:p>
            <a:pPr marL="0" indent="0">
              <a:buNone/>
            </a:pPr>
            <a:r>
              <a:rPr lang="ro-RO" dirty="0" smtClean="0"/>
              <a:t>       4.</a:t>
            </a:r>
            <a:r>
              <a:rPr lang="ro-RO" b="1" dirty="0" smtClean="0"/>
              <a:t>Baza </a:t>
            </a:r>
            <a:r>
              <a:rPr lang="ro-RO" b="1" dirty="0"/>
              <a:t>de </a:t>
            </a:r>
            <a:r>
              <a:rPr lang="ro-RO" b="1" dirty="0" smtClean="0"/>
              <a:t>date:</a:t>
            </a:r>
            <a:endParaRPr lang="ro-RO" sz="2000" dirty="0" smtClean="0"/>
          </a:p>
          <a:p>
            <a:pPr marL="0" lvl="0" indent="0">
              <a:buNone/>
            </a:pPr>
            <a:r>
              <a:rPr lang="ro-RO" b="1" dirty="0" smtClean="0"/>
              <a:t>           </a:t>
            </a:r>
            <a:r>
              <a:rPr lang="ro-RO" dirty="0" smtClean="0"/>
              <a:t>SQL (MySQL): pentru stocarea datelor despre utilizatori, saloane, rezervări și servicii. Structura bazei de date va fi proiectată pentru a susține interogările complexe și relațiile între tabele.</a:t>
            </a:r>
            <a:endParaRPr lang="ro-RO" sz="2000" dirty="0" smtClean="0"/>
          </a:p>
          <a:p>
            <a:pPr marL="0" indent="0">
              <a:buNone/>
            </a:pPr>
            <a:r>
              <a:rPr lang="ro-RO" b="1" dirty="0" smtClean="0"/>
              <a:t>        5.PI-uri </a:t>
            </a:r>
            <a:r>
              <a:rPr lang="ro-RO" b="1" dirty="0"/>
              <a:t>și servicii externe:</a:t>
            </a:r>
            <a:endParaRPr lang="ro-RO" sz="2000" dirty="0"/>
          </a:p>
          <a:p>
            <a:pPr marL="0" lvl="0" indent="0">
              <a:buNone/>
            </a:pPr>
            <a:r>
              <a:rPr lang="ro-RO" b="1" dirty="0" smtClean="0"/>
              <a:t>            </a:t>
            </a:r>
            <a:r>
              <a:rPr lang="ro-RO" dirty="0" smtClean="0"/>
              <a:t>Google </a:t>
            </a:r>
            <a:r>
              <a:rPr lang="ro-RO" dirty="0"/>
              <a:t>Maps API: pentru integrarea hărților și calcularea distanțelor.</a:t>
            </a:r>
            <a:endParaRPr lang="ro-RO" sz="2000" dirty="0"/>
          </a:p>
          <a:p>
            <a:pPr marL="0" lvl="0" indent="0">
              <a:buNone/>
            </a:pPr>
            <a:r>
              <a:rPr lang="ro-RO" dirty="0"/>
              <a:t>Servicii de notificări și mesagerie pentru trimiterea notificărilor către utilizatori.</a:t>
            </a: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165999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686800" cy="838200"/>
          </a:xfrm>
        </p:spPr>
        <p:txBody>
          <a:bodyPr/>
          <a:lstStyle/>
          <a:p>
            <a:r>
              <a:rPr lang="ro-RO" dirty="0" smtClean="0"/>
              <a:t>  Arhitectura si designul sistemului</a:t>
            </a:r>
            <a:endParaRPr lang="ro-RO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9984"/>
            <a:ext cx="8407095" cy="493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119675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 smtClean="0"/>
              <a:t>1. General Architecture Diagram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77353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6624736" cy="568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5576" y="548680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 smtClean="0"/>
              <a:t>2.Flow Chart Diagram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9635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0"/>
            <a:ext cx="8686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b="1" u="sng" dirty="0"/>
          </a:p>
          <a:p>
            <a:pPr marL="0" indent="0">
              <a:buNone/>
            </a:pPr>
            <a:r>
              <a:rPr lang="ro-RO" sz="2400" b="1" u="sng" dirty="0" smtClean="0"/>
              <a:t>3.Class Diagram</a:t>
            </a:r>
            <a:endParaRPr lang="en-US" sz="2400" b="1" u="sng" dirty="0" smtClean="0"/>
          </a:p>
          <a:p>
            <a:pPr marL="0" indent="0">
              <a:buNone/>
            </a:pPr>
            <a:endParaRPr lang="en-US" sz="3400" b="1" u="sng" dirty="0" smtClean="0"/>
          </a:p>
          <a:p>
            <a:pPr marL="0" indent="0">
              <a:buNone/>
            </a:pPr>
            <a:endParaRPr lang="en-US" sz="3400" b="1" u="sng" dirty="0"/>
          </a:p>
          <a:p>
            <a:pPr marL="0" indent="0">
              <a:buNone/>
            </a:pPr>
            <a:endParaRPr lang="en-US" sz="3400" b="1" u="sng" dirty="0" smtClean="0"/>
          </a:p>
          <a:p>
            <a:pPr marL="0" indent="0">
              <a:buNone/>
            </a:pPr>
            <a:endParaRPr lang="ro-RO" sz="3400" dirty="0"/>
          </a:p>
          <a:p>
            <a:pPr marL="0" indent="0">
              <a:buNone/>
            </a:pPr>
            <a:r>
              <a:rPr lang="ro-RO" sz="2900" b="1" dirty="0"/>
              <a:t> </a:t>
            </a:r>
            <a:endParaRPr lang="ro-RO" sz="2900" dirty="0"/>
          </a:p>
          <a:p>
            <a:endParaRPr lang="ro-RO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19200"/>
            <a:ext cx="7199313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456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32656"/>
            <a:ext cx="8686800" cy="5747469"/>
          </a:xfrm>
        </p:spPr>
        <p:txBody>
          <a:bodyPr/>
          <a:lstStyle/>
          <a:p>
            <a:pPr marL="0" indent="0">
              <a:buNone/>
            </a:pPr>
            <a:r>
              <a:rPr lang="ro-RO" b="1" u="sng" dirty="0"/>
              <a:t>4.Object Diagram</a:t>
            </a:r>
            <a:endParaRPr lang="ro-RO" dirty="0"/>
          </a:p>
          <a:p>
            <a:endParaRPr lang="ro-RO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7"/>
            <a:ext cx="8916019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84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32656"/>
            <a:ext cx="8686800" cy="5747469"/>
          </a:xfrm>
        </p:spPr>
        <p:txBody>
          <a:bodyPr/>
          <a:lstStyle/>
          <a:p>
            <a:pPr marL="0" indent="0">
              <a:buNone/>
            </a:pPr>
            <a:r>
              <a:rPr lang="ro-RO" b="1" u="sng" dirty="0"/>
              <a:t>5.Use-Cases Diagram</a:t>
            </a:r>
            <a:endParaRPr lang="ro-RO" dirty="0"/>
          </a:p>
          <a:p>
            <a:endParaRPr lang="ro-R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68760"/>
            <a:ext cx="8928992" cy="5172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773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32656"/>
            <a:ext cx="8686800" cy="5747469"/>
          </a:xfrm>
        </p:spPr>
        <p:txBody>
          <a:bodyPr/>
          <a:lstStyle/>
          <a:p>
            <a:pPr marL="0" indent="0">
              <a:buNone/>
            </a:pPr>
            <a:r>
              <a:rPr lang="ro-RO" b="1" u="sng" dirty="0"/>
              <a:t>6.Sequence Diagram</a:t>
            </a:r>
            <a:endParaRPr lang="ro-RO" dirty="0"/>
          </a:p>
          <a:p>
            <a:endParaRPr lang="ro-R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560513"/>
            <a:ext cx="8208912" cy="5036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486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76672"/>
            <a:ext cx="8686800" cy="5603453"/>
          </a:xfrm>
        </p:spPr>
        <p:txBody>
          <a:bodyPr/>
          <a:lstStyle/>
          <a:p>
            <a:pPr marL="0" indent="0">
              <a:buNone/>
            </a:pPr>
            <a:r>
              <a:rPr lang="ro-RO" b="1" u="sng" dirty="0"/>
              <a:t>7.Activity Diagram</a:t>
            </a:r>
            <a:endParaRPr lang="ro-RO" dirty="0"/>
          </a:p>
          <a:p>
            <a:endParaRPr lang="ro-RO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398" y="1124744"/>
            <a:ext cx="4846289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952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4330" y="1554163"/>
            <a:ext cx="5727739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54868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 smtClean="0"/>
              <a:t>8.State Tranzision Diagram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49630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04664"/>
            <a:ext cx="8686800" cy="5675461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9.Comunication Diagram</a:t>
            </a:r>
            <a:endParaRPr lang="ro-RO" dirty="0"/>
          </a:p>
          <a:p>
            <a:endParaRPr lang="ro-RO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127125"/>
            <a:ext cx="6983486" cy="547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31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Component/Package Diagram</a:t>
            </a:r>
            <a:r>
              <a:rPr lang="ro-RO" b="1" dirty="0"/>
              <a:t/>
            </a:r>
            <a:br>
              <a:rPr lang="ro-RO" b="1" dirty="0"/>
            </a:br>
            <a:endParaRPr lang="ro-RO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959" y="1554163"/>
            <a:ext cx="6046481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70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76672"/>
            <a:ext cx="8686800" cy="5603453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11.Deployment </a:t>
            </a:r>
            <a:r>
              <a:rPr lang="en-US" b="1" u="sng" dirty="0"/>
              <a:t>Diagram</a:t>
            </a:r>
            <a:endParaRPr lang="ro-RO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84399"/>
            <a:ext cx="8389232" cy="3237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27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0648"/>
            <a:ext cx="8686800" cy="5819477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12.Database Diagram</a:t>
            </a:r>
            <a:endParaRPr lang="ro-RO" dirty="0"/>
          </a:p>
          <a:p>
            <a:endParaRPr lang="ro-RO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40768"/>
            <a:ext cx="5923805" cy="5412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288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    </a:t>
            </a:r>
            <a:r>
              <a:rPr lang="en-US" b="1" dirty="0" err="1" smtClean="0"/>
              <a:t>Introducere</a:t>
            </a:r>
            <a:r>
              <a:rPr lang="en-US" b="1" dirty="0" smtClean="0"/>
              <a:t> </a:t>
            </a:r>
            <a:r>
              <a:rPr lang="en-US" b="1" dirty="0"/>
              <a:t>Mockup-</a:t>
            </a:r>
            <a:r>
              <a:rPr lang="en-US" b="1" dirty="0" err="1"/>
              <a:t>uri</a:t>
            </a:r>
            <a:r>
              <a:rPr lang="en-US" b="1" dirty="0"/>
              <a:t/>
            </a:r>
            <a:br>
              <a:rPr lang="en-US" b="1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vi-VN" sz="2400" dirty="0" smtClean="0"/>
              <a:t>După </a:t>
            </a:r>
            <a:r>
              <a:rPr lang="vi-VN" sz="2400" dirty="0"/>
              <a:t>ce am analizat structura aplicației prin intermediul diagramelor, următorul pas important este să vizualizăm cum arată interfața utilizatorului. Mockup-urile prezentate în continuare oferă o reprezentare clară a principalelor pagini din aplicație, ilustrând designul intuitiv și funcționalitățile esențiale pe care le-am descris anterior.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30263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76672"/>
            <a:ext cx="8686800" cy="56034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1.Autentificare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Mockup-ul </a:t>
            </a:r>
            <a:r>
              <a:rPr lang="vi-VN" sz="1600" dirty="0"/>
              <a:t>pentru autentificare </a:t>
            </a:r>
            <a:r>
              <a:rPr lang="vi-VN" sz="1600" dirty="0" smtClean="0"/>
              <a:t>ilustrează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o interfață simplă și intuitivă, care </a:t>
            </a:r>
            <a:r>
              <a:rPr lang="vi-VN" sz="1600" dirty="0" smtClean="0"/>
              <a:t>permite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utilizatorilor să selecteze rolul (Utilizator sau Admin), 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să </a:t>
            </a:r>
            <a:r>
              <a:rPr lang="vi-VN" sz="1600" dirty="0"/>
              <a:t>introducă datele de autentificare (email și parolă</a:t>
            </a:r>
            <a:r>
              <a:rPr lang="vi-VN" sz="1600" dirty="0" smtClean="0"/>
              <a:t>)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și să se conecteze sau să se înregistreze cu ușurință</a:t>
            </a:r>
            <a:r>
              <a:rPr lang="vi-VN" sz="1600" dirty="0" smtClean="0"/>
              <a:t>.</a:t>
            </a:r>
            <a:endParaRPr lang="en-US" sz="1600" dirty="0" smtClean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ro-RO" sz="1600" b="1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401412"/>
              </p:ext>
            </p:extLst>
          </p:nvPr>
        </p:nvGraphicFramePr>
        <p:xfrm>
          <a:off x="5220072" y="1412776"/>
          <a:ext cx="3707904" cy="3290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icture" r:id="rId3" imgW="2499480" imgH="2217600" progId="StaticDib">
                  <p:embed/>
                </p:oleObj>
              </mc:Choice>
              <mc:Fallback>
                <p:oleObj name="Picture" r:id="rId3" imgW="2499480" imgH="2217600" progId="StaticDib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0072" y="1412776"/>
                        <a:ext cx="3707904" cy="3290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029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76672"/>
            <a:ext cx="8686800" cy="56034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2.Pagina de </a:t>
            </a:r>
            <a:r>
              <a:rPr lang="en-US" sz="2800" b="1" dirty="0" err="1" smtClean="0"/>
              <a:t>pornire</a:t>
            </a:r>
            <a:r>
              <a:rPr lang="en-US" sz="2800" b="1" dirty="0" smtClean="0"/>
              <a:t> :</a:t>
            </a:r>
            <a:r>
              <a:rPr lang="en-US" sz="2800" b="1" dirty="0" err="1" smtClean="0"/>
              <a:t>utilizator</a:t>
            </a:r>
            <a:endParaRPr lang="en-US" sz="2800" b="1" dirty="0" smtClean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vi-VN" sz="1600" dirty="0" smtClean="0"/>
              <a:t>Mockup-ul </a:t>
            </a:r>
            <a:r>
              <a:rPr lang="vi-VN" sz="1600" dirty="0"/>
              <a:t>paginii de pornire pentru </a:t>
            </a:r>
            <a:r>
              <a:rPr lang="vi-VN" sz="1600" dirty="0" smtClean="0"/>
              <a:t>utilizator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oferă o interfață </a:t>
            </a:r>
            <a:r>
              <a:rPr lang="vi-VN" sz="1600" dirty="0" smtClean="0"/>
              <a:t> </a:t>
            </a:r>
            <a:r>
              <a:rPr lang="vi-VN" sz="1600" dirty="0"/>
              <a:t>pentru </a:t>
            </a:r>
            <a:r>
              <a:rPr lang="vi-VN" sz="1600" dirty="0" smtClean="0"/>
              <a:t>selectarea</a:t>
            </a:r>
            <a:r>
              <a:rPr lang="en-US" sz="1600" dirty="0" smtClean="0"/>
              <a:t> </a:t>
            </a:r>
            <a:r>
              <a:rPr lang="en-US" sz="1600" dirty="0" err="1" smtClean="0"/>
              <a:t>daca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dirty="0" err="1" smtClean="0"/>
              <a:t>doreste</a:t>
            </a:r>
            <a:r>
              <a:rPr lang="en-US" sz="1600" dirty="0" smtClean="0"/>
              <a:t> </a:t>
            </a:r>
            <a:r>
              <a:rPr lang="en-US" sz="1600" dirty="0" err="1" smtClean="0"/>
              <a:t>sa</a:t>
            </a:r>
            <a:r>
              <a:rPr lang="en-US" sz="1600" dirty="0" smtClean="0"/>
              <a:t> lase o </a:t>
            </a:r>
            <a:r>
              <a:rPr lang="en-US" sz="1600" dirty="0" err="1" smtClean="0"/>
              <a:t>recenzie,sa</a:t>
            </a:r>
            <a:r>
              <a:rPr lang="en-US" sz="1600" dirty="0" smtClean="0"/>
              <a:t> </a:t>
            </a:r>
            <a:r>
              <a:rPr lang="en-US" sz="1600" dirty="0" err="1" smtClean="0"/>
              <a:t>isi</a:t>
            </a:r>
            <a:r>
              <a:rPr lang="en-US" sz="1600" dirty="0" smtClean="0"/>
              <a:t> </a:t>
            </a:r>
            <a:r>
              <a:rPr lang="en-US" sz="1600" dirty="0" err="1" smtClean="0"/>
              <a:t>vada</a:t>
            </a:r>
            <a:r>
              <a:rPr lang="en-US" sz="1600" dirty="0" smtClean="0"/>
              <a:t> </a:t>
            </a:r>
            <a:r>
              <a:rPr lang="en-US" sz="1600" dirty="0" err="1" smtClean="0"/>
              <a:t>propriile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 err="1" smtClean="0"/>
              <a:t>Programri</a:t>
            </a:r>
            <a:r>
              <a:rPr lang="en-US" sz="1600" dirty="0" smtClean="0"/>
              <a:t> </a:t>
            </a:r>
            <a:r>
              <a:rPr lang="en-US" sz="1600" dirty="0" err="1" smtClean="0"/>
              <a:t>sau</a:t>
            </a:r>
            <a:r>
              <a:rPr lang="en-US" sz="1600" dirty="0" smtClean="0"/>
              <a:t> </a:t>
            </a:r>
            <a:r>
              <a:rPr lang="en-US" sz="1600" dirty="0" err="1" smtClean="0"/>
              <a:t>calendarul</a:t>
            </a:r>
            <a:r>
              <a:rPr lang="en-US" sz="1600" dirty="0" smtClean="0"/>
              <a:t> </a:t>
            </a:r>
            <a:r>
              <a:rPr lang="en-US" sz="1600" dirty="0" err="1" smtClean="0"/>
              <a:t>propriu</a:t>
            </a:r>
            <a:r>
              <a:rPr lang="en-US" sz="1600" dirty="0" smtClean="0"/>
              <a:t>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753448"/>
              </p:ext>
            </p:extLst>
          </p:nvPr>
        </p:nvGraphicFramePr>
        <p:xfrm>
          <a:off x="4639047" y="1700808"/>
          <a:ext cx="4434799" cy="338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Picture" r:id="rId3" imgW="2507040" imgH="1912680" progId="StaticDib">
                  <p:embed/>
                </p:oleObj>
              </mc:Choice>
              <mc:Fallback>
                <p:oleObj name="Picture" r:id="rId3" imgW="2507040" imgH="1912680" progId="StaticDib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39047" y="1700808"/>
                        <a:ext cx="4434799" cy="3384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44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32656"/>
            <a:ext cx="8686800" cy="5747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3</a:t>
            </a:r>
            <a:r>
              <a:rPr lang="en-US" sz="2800" b="1" dirty="0" smtClean="0"/>
              <a:t>.Pagina </a:t>
            </a:r>
            <a:r>
              <a:rPr lang="en-US" sz="2800" b="1" dirty="0" err="1" smtClean="0"/>
              <a:t>pentru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recenzii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evaluari</a:t>
            </a:r>
            <a:endParaRPr lang="en-US" sz="2800" b="1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vi-VN" sz="1600" dirty="0" smtClean="0"/>
              <a:t>Pagina </a:t>
            </a:r>
            <a:r>
              <a:rPr lang="vi-VN" sz="1600" dirty="0"/>
              <a:t>de recenzii și evaluări </a:t>
            </a:r>
            <a:r>
              <a:rPr lang="vi-VN" sz="1600" dirty="0" smtClean="0"/>
              <a:t>permite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utilizatorilor </a:t>
            </a:r>
            <a:r>
              <a:rPr lang="vi-VN" sz="1600" dirty="0" smtClean="0"/>
              <a:t>să </a:t>
            </a:r>
            <a:r>
              <a:rPr lang="vi-VN" sz="1600" dirty="0"/>
              <a:t>lase </a:t>
            </a:r>
            <a:r>
              <a:rPr lang="vi-VN" sz="1600" dirty="0" smtClean="0"/>
              <a:t>o </a:t>
            </a:r>
            <a:r>
              <a:rPr lang="vi-VN" sz="1600" dirty="0"/>
              <a:t>recenzie pentru saloanele vizitate, contribuind 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la </a:t>
            </a:r>
            <a:r>
              <a:rPr lang="vi-VN" sz="1600" dirty="0"/>
              <a:t>îmbunătățirea transparenței și calității serviciilor </a:t>
            </a:r>
            <a:r>
              <a:rPr lang="vi-VN" sz="1600" dirty="0" smtClean="0"/>
              <a:t>oferite</a:t>
            </a:r>
            <a:r>
              <a:rPr lang="en-US" sz="1600" dirty="0" smtClean="0"/>
              <a:t>.</a:t>
            </a:r>
            <a:endParaRPr lang="ro-RO" sz="1600" b="1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821347"/>
              </p:ext>
            </p:extLst>
          </p:nvPr>
        </p:nvGraphicFramePr>
        <p:xfrm>
          <a:off x="1835696" y="2708920"/>
          <a:ext cx="5637766" cy="374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Picture" r:id="rId3" imgW="3810240" imgH="2529720" progId="StaticDib">
                  <p:embed/>
                </p:oleObj>
              </mc:Choice>
              <mc:Fallback>
                <p:oleObj name="Picture" r:id="rId3" imgW="3810240" imgH="2529720" progId="StaticDib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2708920"/>
                        <a:ext cx="5637766" cy="3744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068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4.Programrile  </a:t>
            </a:r>
            <a:r>
              <a:rPr lang="en-US" dirty="0" err="1" smtClean="0"/>
              <a:t>Utilizator</a:t>
            </a:r>
            <a:endParaRPr lang="ro-RO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628800"/>
            <a:ext cx="5366551" cy="4537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801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5.Calendar </a:t>
            </a:r>
            <a:r>
              <a:rPr lang="en-US" dirty="0" err="1" smtClean="0"/>
              <a:t>utilizator</a:t>
            </a:r>
            <a:r>
              <a:rPr lang="en-US" dirty="0" smtClean="0"/>
              <a:t> </a:t>
            </a:r>
            <a:endParaRPr lang="ro-RO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16832"/>
            <a:ext cx="5544616" cy="4670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9412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76672"/>
            <a:ext cx="8686800" cy="56034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6</a:t>
            </a:r>
            <a:r>
              <a:rPr lang="en-US" sz="2800" b="1" dirty="0" smtClean="0"/>
              <a:t>.PAGINA DE PORNIRE ADMIN</a:t>
            </a:r>
            <a:endParaRPr lang="en-US" sz="2800" b="1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vi-VN" sz="1600" dirty="0" smtClean="0"/>
              <a:t>Pagina </a:t>
            </a:r>
            <a:r>
              <a:rPr lang="vi-VN" sz="1600" dirty="0"/>
              <a:t>de gestionare a </a:t>
            </a:r>
            <a:r>
              <a:rPr lang="vi-VN" sz="1600" dirty="0" smtClean="0"/>
              <a:t>programărilor pentru 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admin </a:t>
            </a:r>
            <a:r>
              <a:rPr lang="vi-VN" sz="1600" dirty="0"/>
              <a:t>oferă un dashboard </a:t>
            </a:r>
            <a:r>
              <a:rPr lang="vi-VN" sz="1600" dirty="0" smtClean="0"/>
              <a:t> </a:t>
            </a:r>
            <a:r>
              <a:rPr lang="vi-VN" sz="1600" dirty="0"/>
              <a:t>care include </a:t>
            </a:r>
            <a:r>
              <a:rPr lang="vi-VN" sz="1600" dirty="0" smtClean="0"/>
              <a:t>un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calendar pentru </a:t>
            </a:r>
            <a:r>
              <a:rPr lang="vi-VN" sz="1600" dirty="0" smtClean="0"/>
              <a:t>organizarea </a:t>
            </a:r>
            <a:r>
              <a:rPr lang="vi-VN" sz="1600" dirty="0"/>
              <a:t>zilelor, </a:t>
            </a:r>
            <a:r>
              <a:rPr lang="vi-VN" sz="1600" dirty="0" smtClean="0"/>
              <a:t>programările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curente pentru ziua respectivă, și opțiuni </a:t>
            </a:r>
            <a:r>
              <a:rPr lang="vi-VN" sz="1600" dirty="0" smtClean="0"/>
              <a:t>pentru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modificarea, confirmarea sau anularea acestora</a:t>
            </a:r>
            <a:r>
              <a:rPr lang="vi-VN" sz="1600" dirty="0" smtClean="0"/>
              <a:t>.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 </a:t>
            </a:r>
            <a:r>
              <a:rPr lang="vi-VN" sz="1600" dirty="0"/>
              <a:t>De asemenea, adminii pot bloca zilele </a:t>
            </a:r>
            <a:endParaRPr lang="en-US" sz="1600" dirty="0" smtClean="0"/>
          </a:p>
          <a:p>
            <a:pPr marL="0" indent="0">
              <a:buNone/>
            </a:pPr>
            <a:r>
              <a:rPr lang="vi-VN" sz="1600" dirty="0" smtClean="0"/>
              <a:t>în </a:t>
            </a:r>
            <a:r>
              <a:rPr lang="vi-VN" sz="1600" dirty="0"/>
              <a:t>care nu sunt disponibili.</a:t>
            </a:r>
            <a:endParaRPr lang="ro-RO" sz="16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700808"/>
            <a:ext cx="3733399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813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7. </a:t>
            </a:r>
            <a:r>
              <a:rPr lang="en-US" b="1" dirty="0" err="1"/>
              <a:t>Pagina</a:t>
            </a:r>
            <a:r>
              <a:rPr lang="en-US" b="1" dirty="0"/>
              <a:t> admin: </a:t>
            </a:r>
            <a:r>
              <a:rPr lang="en-US" b="1" dirty="0" err="1"/>
              <a:t>gestionare</a:t>
            </a:r>
            <a:r>
              <a:rPr lang="en-US" b="1" dirty="0"/>
              <a:t> </a:t>
            </a:r>
            <a:r>
              <a:rPr lang="en-US" b="1" dirty="0" err="1"/>
              <a:t>programari</a:t>
            </a:r>
            <a:r>
              <a:rPr lang="en-US" b="1" dirty="0"/>
              <a:t/>
            </a:r>
            <a:br>
              <a:rPr lang="en-US" b="1" dirty="0"/>
            </a:br>
            <a:endParaRPr lang="ro-RO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0768"/>
            <a:ext cx="7120696" cy="5308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039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8.Pagina de </a:t>
            </a:r>
            <a:r>
              <a:rPr lang="en-US" dirty="0" err="1" smtClean="0"/>
              <a:t>pornire:user</a:t>
            </a:r>
            <a:r>
              <a:rPr lang="en-US" dirty="0" smtClean="0"/>
              <a:t> </a:t>
            </a:r>
            <a:r>
              <a:rPr lang="en-US" dirty="0" err="1" smtClean="0"/>
              <a:t>manichiurista</a:t>
            </a:r>
            <a:endParaRPr lang="ro-RO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84784"/>
            <a:ext cx="5688632" cy="493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66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9.Pagina de </a:t>
            </a:r>
            <a:r>
              <a:rPr lang="en-US" dirty="0" err="1" smtClean="0"/>
              <a:t>administrare</a:t>
            </a:r>
            <a:r>
              <a:rPr lang="en-US" dirty="0" smtClean="0"/>
              <a:t> </a:t>
            </a:r>
            <a:r>
              <a:rPr lang="en-US" dirty="0" err="1" smtClean="0"/>
              <a:t>manichiurista</a:t>
            </a:r>
            <a:r>
              <a:rPr lang="en-US" dirty="0" smtClean="0"/>
              <a:t> </a:t>
            </a:r>
            <a:endParaRPr lang="ro-RO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40768"/>
            <a:ext cx="6975907" cy="5245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8588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8686800" cy="838200"/>
          </a:xfrm>
        </p:spPr>
        <p:txBody>
          <a:bodyPr/>
          <a:lstStyle/>
          <a:p>
            <a:r>
              <a:rPr lang="ro-RO" dirty="0" smtClean="0"/>
              <a:t>Portabilitate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r>
              <a:rPr lang="en-US" sz="2400" dirty="0" err="1" smtClean="0"/>
              <a:t>Aplicația</a:t>
            </a:r>
            <a:r>
              <a:rPr lang="en-US" sz="2400" dirty="0" smtClean="0"/>
              <a:t> 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proiectată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funcționeze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platforme</a:t>
            </a:r>
            <a:r>
              <a:rPr lang="en-US" sz="2400" dirty="0"/>
              <a:t>, </a:t>
            </a:r>
            <a:r>
              <a:rPr lang="en-US" sz="2400" dirty="0" err="1"/>
              <a:t>inclusiv</a:t>
            </a:r>
            <a:r>
              <a:rPr lang="en-US" sz="2400" dirty="0"/>
              <a:t> </a:t>
            </a:r>
            <a:r>
              <a:rPr lang="en-US" sz="2400" dirty="0" err="1"/>
              <a:t>dispozitive</a:t>
            </a:r>
            <a:r>
              <a:rPr lang="en-US" sz="2400" dirty="0"/>
              <a:t> mobile Android ,</a:t>
            </a:r>
            <a:r>
              <a:rPr lang="en-US" sz="2400" dirty="0" err="1"/>
              <a:t>precum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browsere</a:t>
            </a:r>
            <a:r>
              <a:rPr lang="en-US" sz="2400" dirty="0"/>
              <a:t> web. </a:t>
            </a:r>
            <a:r>
              <a:rPr lang="en-US" sz="2400" dirty="0" err="1"/>
              <a:t>Interfața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responsive, </a:t>
            </a:r>
            <a:r>
              <a:rPr lang="en-US" sz="2400" dirty="0" err="1"/>
              <a:t>adaptându</a:t>
            </a:r>
            <a:r>
              <a:rPr lang="en-US" sz="2400" dirty="0"/>
              <a:t>-se automat la </a:t>
            </a:r>
            <a:r>
              <a:rPr lang="en-US" sz="2400" dirty="0" err="1"/>
              <a:t>diferite</a:t>
            </a:r>
            <a:r>
              <a:rPr lang="en-US" sz="2400" dirty="0"/>
              <a:t> </a:t>
            </a:r>
            <a:r>
              <a:rPr lang="en-US" sz="2400" dirty="0" err="1"/>
              <a:t>dimensiuni</a:t>
            </a:r>
            <a:r>
              <a:rPr lang="en-US" sz="2400" dirty="0"/>
              <a:t> ale </a:t>
            </a:r>
            <a:r>
              <a:rPr lang="en-US" sz="2400" dirty="0" err="1"/>
              <a:t>ecranului</a:t>
            </a:r>
            <a:r>
              <a:rPr lang="en-US" sz="2400" dirty="0"/>
              <a:t>. </a:t>
            </a:r>
            <a:r>
              <a:rPr lang="en-US" sz="2400" dirty="0" err="1"/>
              <a:t>Arhitectura</a:t>
            </a:r>
            <a:r>
              <a:rPr lang="en-US" sz="2400" dirty="0"/>
              <a:t> </a:t>
            </a:r>
            <a:r>
              <a:rPr lang="en-US" sz="2400" dirty="0" err="1"/>
              <a:t>modulară</a:t>
            </a:r>
            <a:r>
              <a:rPr lang="en-US" sz="2400" dirty="0"/>
              <a:t> </a:t>
            </a:r>
            <a:r>
              <a:rPr lang="en-US" sz="2400" dirty="0" err="1"/>
              <a:t>asigură</a:t>
            </a:r>
            <a:r>
              <a:rPr lang="en-US" sz="2400" dirty="0"/>
              <a:t> </a:t>
            </a:r>
            <a:r>
              <a:rPr lang="en-US" sz="2400" dirty="0" err="1"/>
              <a:t>compatibilitate</a:t>
            </a:r>
            <a:r>
              <a:rPr lang="en-US" sz="2400" dirty="0"/>
              <a:t> cu diverse </a:t>
            </a:r>
            <a:r>
              <a:rPr lang="en-US" sz="2400" dirty="0" err="1"/>
              <a:t>configurații</a:t>
            </a:r>
            <a:r>
              <a:rPr lang="en-US" sz="2400" dirty="0"/>
              <a:t> hardware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permite</a:t>
            </a:r>
            <a:r>
              <a:rPr lang="en-US" sz="2400" dirty="0"/>
              <a:t> </a:t>
            </a:r>
            <a:r>
              <a:rPr lang="en-US" sz="2400" dirty="0" err="1"/>
              <a:t>extinderea</a:t>
            </a:r>
            <a:r>
              <a:rPr lang="en-US" sz="2400" dirty="0"/>
              <a:t> </a:t>
            </a:r>
            <a:r>
              <a:rPr lang="en-US" sz="2400" dirty="0" err="1"/>
              <a:t>ușoară</a:t>
            </a:r>
            <a:r>
              <a:rPr lang="en-US" sz="2400" dirty="0"/>
              <a:t> a </a:t>
            </a:r>
            <a:r>
              <a:rPr lang="en-US" sz="2400" dirty="0" err="1"/>
              <a:t>funcționalităților</a:t>
            </a:r>
            <a:r>
              <a:rPr lang="en-US" sz="2400" dirty="0"/>
              <a:t>. </a:t>
            </a:r>
            <a:r>
              <a:rPr lang="en-US" sz="2400" dirty="0" err="1"/>
              <a:t>Astfel</a:t>
            </a:r>
            <a:r>
              <a:rPr lang="en-US" sz="2400" dirty="0"/>
              <a:t>, </a:t>
            </a:r>
            <a:r>
              <a:rPr lang="en-US" sz="2400" dirty="0" err="1"/>
              <a:t>aplicația</a:t>
            </a:r>
            <a:r>
              <a:rPr lang="en-US" sz="2400" dirty="0"/>
              <a:t> </a:t>
            </a:r>
            <a:r>
              <a:rPr lang="en-US" sz="2400" dirty="0" err="1"/>
              <a:t>oferă</a:t>
            </a:r>
            <a:r>
              <a:rPr lang="en-US" sz="2400" dirty="0"/>
              <a:t> </a:t>
            </a:r>
            <a:r>
              <a:rPr lang="en-US" sz="2400" dirty="0" err="1"/>
              <a:t>flexibilitate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accesibilitate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utilizatori</a:t>
            </a:r>
            <a:r>
              <a:rPr lang="en-US" sz="2400" dirty="0"/>
              <a:t>, </a:t>
            </a:r>
            <a:r>
              <a:rPr lang="en-US" sz="2400" dirty="0" err="1"/>
              <a:t>indiferent</a:t>
            </a:r>
            <a:r>
              <a:rPr lang="en-US" sz="2400" dirty="0"/>
              <a:t> de </a:t>
            </a:r>
            <a:r>
              <a:rPr lang="en-US" sz="2400" dirty="0" err="1"/>
              <a:t>dispozitiv</a:t>
            </a:r>
            <a:r>
              <a:rPr lang="en-US" sz="2400" dirty="0"/>
              <a:t>.</a:t>
            </a:r>
            <a:endParaRPr lang="ro-RO" sz="24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7126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686800" cy="838200"/>
          </a:xfrm>
        </p:spPr>
        <p:txBody>
          <a:bodyPr/>
          <a:lstStyle/>
          <a:p>
            <a:r>
              <a:rPr lang="en-US" dirty="0" smtClean="0"/>
              <a:t>      </a:t>
            </a:r>
            <a:r>
              <a:rPr lang="en-US" dirty="0" err="1" smtClean="0"/>
              <a:t>Concluzii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vi-VN" sz="2400" b="1" dirty="0" smtClean="0"/>
              <a:t>Nail </a:t>
            </a:r>
            <a:r>
              <a:rPr lang="vi-VN" sz="2400" b="1" dirty="0"/>
              <a:t>Salon Sync</a:t>
            </a:r>
            <a:r>
              <a:rPr lang="vi-VN" sz="2400" dirty="0"/>
              <a:t> simplifică și digitalizează procesul de gestionare a programărilor pentru saloanele de unghii.Aplicația oferă o experiență intuitivă și funcționalități personalizate pentru utilizatori și administratori.Funcții cheie precum notificările, recenziile și harta integrată îmbunătățesc eficiența și satisfacția utilizatorilor.Aceasta reprezintă o soluție modernă și practică pentru organizarea serviciilor de salon, contribuind la o mai bună utilizare a timpului și resurselor.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8511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354</TotalTime>
  <Words>1114</Words>
  <Application>Microsoft Office PowerPoint</Application>
  <PresentationFormat>On-screen Show (4:3)</PresentationFormat>
  <Paragraphs>125</Paragraphs>
  <Slides>30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Trek</vt:lpstr>
      <vt:lpstr>Picture (Device Independent Bitmap)</vt:lpstr>
      <vt:lpstr>Nail Salon Sync</vt:lpstr>
      <vt:lpstr>  Prezentare generala </vt:lpstr>
      <vt:lpstr>PowerPoint Presentation</vt:lpstr>
      <vt:lpstr>PowerPoint Presentation</vt:lpstr>
      <vt:lpstr>  fundamente teoretice </vt:lpstr>
      <vt:lpstr>Tehnologie  it</vt:lpstr>
      <vt:lpstr>  Arhitectura si designul sistemului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 Component/Package Diagram </vt:lpstr>
      <vt:lpstr>PowerPoint Presentation</vt:lpstr>
      <vt:lpstr>PowerPoint Presentation</vt:lpstr>
      <vt:lpstr>    Introducere Mockup-uri </vt:lpstr>
      <vt:lpstr>PowerPoint Presentation</vt:lpstr>
      <vt:lpstr>PowerPoint Presentation</vt:lpstr>
      <vt:lpstr>PowerPoint Presentation</vt:lpstr>
      <vt:lpstr>4.Programrile  Utilizator</vt:lpstr>
      <vt:lpstr>5.Calendar utilizator </vt:lpstr>
      <vt:lpstr>PowerPoint Presentation</vt:lpstr>
      <vt:lpstr>7. Pagina admin: gestionare programari </vt:lpstr>
      <vt:lpstr>8.Pagina de pornire:user manichiurista</vt:lpstr>
      <vt:lpstr>9.Pagina de administrare manichiurista </vt:lpstr>
      <vt:lpstr>Portabilitate</vt:lpstr>
      <vt:lpstr>      Concluzii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20</cp:revision>
  <dcterms:created xsi:type="dcterms:W3CDTF">2024-11-16T22:36:42Z</dcterms:created>
  <dcterms:modified xsi:type="dcterms:W3CDTF">2025-01-31T11:44:14Z</dcterms:modified>
</cp:coreProperties>
</file>